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54c4b384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54c4b38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54c4b384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54c4b384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54c4b384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54c4b384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54c4b384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54c4b384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54c4b384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54c4b384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54c4b384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54c4b384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54c4b384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54c4b384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54c4b384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54c4b384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54c4b384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54c4b384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54c4b384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54c4b384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54c4b384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54c4b384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54c4b384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54c4b384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54c4b384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54c4b384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54c4b384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54c4b384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13.jpg"/><Relationship Id="rId5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oracle.com/database/what-is-database/" TargetMode="External"/><Relationship Id="rId4" Type="http://schemas.openxmlformats.org/officeDocument/2006/relationships/hyperlink" Target="https://www.geeksforgeeks.org/sql/what-is-sql/" TargetMode="External"/><Relationship Id="rId9" Type="http://schemas.openxmlformats.org/officeDocument/2006/relationships/hyperlink" Target="https://datafusion.apache.org/comet/" TargetMode="External"/><Relationship Id="rId5" Type="http://schemas.openxmlformats.org/officeDocument/2006/relationships/hyperlink" Target="https://aws.amazon.com/what-is/sql/" TargetMode="External"/><Relationship Id="rId6" Type="http://schemas.openxmlformats.org/officeDocument/2006/relationships/hyperlink" Target="https://datamozart.substack.com/p/parquet-file-format-everything-you" TargetMode="External"/><Relationship Id="rId7" Type="http://schemas.openxmlformats.org/officeDocument/2006/relationships/hyperlink" Target="https://aws.amazon.com/what-is/apache-spark/" TargetMode="External"/><Relationship Id="rId8" Type="http://schemas.openxmlformats.org/officeDocument/2006/relationships/hyperlink" Target="https://www.edureka.co/blog/java-byteco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70350" y="487225"/>
            <a:ext cx="8832300" cy="279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814"/>
              <a:buFont typeface="Arial"/>
              <a:buNone/>
            </a:pPr>
            <a:r>
              <a:rPr b="1" lang="en" sz="4261"/>
              <a:t>Measuring and Improving Native</a:t>
            </a:r>
            <a:endParaRPr b="1" sz="426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814"/>
              <a:buFont typeface="Arial"/>
              <a:buNone/>
            </a:pPr>
            <a:r>
              <a:rPr b="1" lang="en" sz="4261"/>
              <a:t>Execution in Apache DataFusion Comet</a:t>
            </a:r>
            <a:endParaRPr b="1" sz="426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104875" y="150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“DATA IS THE NEW OIL IN 21st CENTURY!”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876C9513-374C-4516-A38E-821C472D0EF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2525" y="854350"/>
            <a:ext cx="4201476" cy="4531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D727AB04-299A-418B-A81C-04E40DC9342D_1_201_a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4650" y="1093425"/>
            <a:ext cx="5067174" cy="40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98700"/>
            <a:ext cx="8520600" cy="13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1600">
                <a:solidFill>
                  <a:srgbClr val="161513"/>
                </a:solidFill>
                <a:highlight>
                  <a:srgbClr val="FFFFFF"/>
                </a:highlight>
              </a:rPr>
              <a:t>A database is an organized collection of structured information, or data, typically stored electronically in a computer system.</a:t>
            </a:r>
            <a:endParaRPr sz="1600">
              <a:solidFill>
                <a:srgbClr val="161513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61513"/>
              </a:buClr>
              <a:buSzPts val="1600"/>
              <a:buChar char="●"/>
            </a:pPr>
            <a:r>
              <a:rPr lang="en" sz="1600">
                <a:solidFill>
                  <a:srgbClr val="161513"/>
                </a:solidFill>
                <a:highlight>
                  <a:srgbClr val="FFFFFF"/>
                </a:highlight>
              </a:rPr>
              <a:t>A database is typically deployed and accessed via cloud environment.</a:t>
            </a:r>
            <a:endParaRPr sz="1600">
              <a:solidFill>
                <a:srgbClr val="161513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61513"/>
              </a:buClr>
              <a:buSzPts val="1600"/>
              <a:buChar char="●"/>
            </a:pPr>
            <a:r>
              <a:rPr lang="en" sz="1600">
                <a:solidFill>
                  <a:srgbClr val="161513"/>
                </a:solidFill>
                <a:highlight>
                  <a:srgbClr val="FFFFFF"/>
                </a:highlight>
              </a:rPr>
              <a:t>SQL is a programming language used to interact with the database.</a:t>
            </a:r>
            <a:endParaRPr sz="1600">
              <a:solidFill>
                <a:srgbClr val="161513"/>
              </a:solidFill>
              <a:highlight>
                <a:srgbClr val="FFFFFF"/>
              </a:highlight>
            </a:endParaRPr>
          </a:p>
        </p:txBody>
      </p:sp>
      <p:pic>
        <p:nvPicPr>
          <p:cNvPr id="68" name="Google Shape;68;p15" title="BBBD5CE9-57FF-48B7-AF07-0C0ECD62E46A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0850"/>
            <a:ext cx="3435527" cy="364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5C2CF3CB-8722-4061-8595-2F02B10C8A6C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0850" y="1663650"/>
            <a:ext cx="5597424" cy="19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63D551EC-C375-4BB7-A636-0B7255E6D700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0850" y="3573750"/>
            <a:ext cx="5597424" cy="13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608750" y="1346250"/>
            <a:ext cx="4181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TABLE-1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543025" y="4769475"/>
            <a:ext cx="4181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TABLE-2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221050" y="468525"/>
            <a:ext cx="8520600" cy="4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Traditional Row based storage is very slow and memory inefficient.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Parquet files store chunks of data in row-groups as well as metadata.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row-group format offers for more efficient memory usage through dictionary encoding.</a:t>
            </a:r>
            <a:endParaRPr/>
          </a:p>
        </p:txBody>
      </p:sp>
      <p:pic>
        <p:nvPicPr>
          <p:cNvPr id="78" name="Google Shape;78;p16" title="CDFD5DCE-1989-4E36-A549-C4283D43BDDF_1_201_a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600" y="2036125"/>
            <a:ext cx="7388300" cy="27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266852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Apache Spark</a:t>
            </a:r>
            <a:endParaRPr sz="2820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91000" y="1231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1650">
                <a:solidFill>
                  <a:srgbClr val="232B37"/>
                </a:solidFill>
              </a:rPr>
              <a:t>Apache Spark is an open-source, distributed processing system used for big data workloads.</a:t>
            </a:r>
            <a:endParaRPr sz="1650">
              <a:solidFill>
                <a:srgbClr val="232B37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232B37"/>
              </a:buClr>
              <a:buSzPts val="1650"/>
              <a:buChar char="●"/>
            </a:pPr>
            <a:r>
              <a:rPr lang="en" sz="1650">
                <a:solidFill>
                  <a:srgbClr val="232B37"/>
                </a:solidFill>
              </a:rPr>
              <a:t>Spark uses in-memory processing for its intermediate steps and also utilises caching to reduce physical disk I/O latency.</a:t>
            </a:r>
            <a:endParaRPr sz="1650">
              <a:solidFill>
                <a:srgbClr val="232B37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232B37"/>
              </a:buClr>
              <a:buSzPts val="1650"/>
              <a:buChar char="●"/>
            </a:pPr>
            <a:r>
              <a:rPr lang="en" sz="1650">
                <a:solidFill>
                  <a:srgbClr val="232B37"/>
                </a:solidFill>
              </a:rPr>
              <a:t>It is </a:t>
            </a:r>
            <a:r>
              <a:rPr b="1" lang="en" sz="1650">
                <a:solidFill>
                  <a:srgbClr val="232B37"/>
                </a:solidFill>
              </a:rPr>
              <a:t>100 TIMES FASTER</a:t>
            </a:r>
            <a:r>
              <a:rPr lang="en" sz="1650">
                <a:solidFill>
                  <a:srgbClr val="232B37"/>
                </a:solidFill>
              </a:rPr>
              <a:t> than Hadoop MapReduce!</a:t>
            </a:r>
            <a:endParaRPr sz="1650">
              <a:solidFill>
                <a:srgbClr val="232B3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219275"/>
            <a:ext cx="8520600" cy="4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disadvantage of Spark is that it executes query operators as JVM Bytecode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query engine compiles the block of code to generate a Bytecode for each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Bytecode bundles all code application into a single .JAR file</a:t>
            </a:r>
            <a:endParaRPr/>
          </a:p>
        </p:txBody>
      </p:sp>
      <p:pic>
        <p:nvPicPr>
          <p:cNvPr id="90" name="Google Shape;90;p18" title="56C0A34F-0463-4E47-9FC0-D326FF3F752E_4_5005_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14050"/>
            <a:ext cx="8520600" cy="28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2475875" y="207075"/>
            <a:ext cx="355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DataFusion Comet</a:t>
            </a:r>
            <a:endParaRPr sz="282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193950" y="863550"/>
            <a:ext cx="831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Comet replaces JVM-Bytecode with native Rust.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Native rust </a:t>
            </a:r>
            <a:r>
              <a:rPr lang="en"/>
              <a:t>eliminates</a:t>
            </a:r>
            <a:r>
              <a:rPr lang="en"/>
              <a:t> the overhead of Garbage Collector and also reduces the SIMD clock cycles.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Comet also utilizes the Arrow columnar data format which is faster because of vector processing.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 title="44121E6E-6E55-41EF-A2A1-D4C0FC587D6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75" y="2633300"/>
            <a:ext cx="7665076" cy="251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413700" y="948500"/>
            <a:ext cx="746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Yet, as of today, not all the query operators run natively in Comet and instead fall back to Spark.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job is to investigate which physical operators and expressions execute natively vs fall back to the JVM</a:t>
            </a:r>
            <a:endParaRPr sz="85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done by computing the coverage metrics over benchmark workloads (TPC-H, TPC-DS)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2838425" y="-113325"/>
            <a:ext cx="515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TPC-H Results</a:t>
            </a:r>
            <a:endParaRPr/>
          </a:p>
        </p:txBody>
      </p:sp>
      <p:pic>
        <p:nvPicPr>
          <p:cNvPr id="108" name="Google Shape;108;p21" title="1F3275FC-1C13-4A5F-A3D9-A7BD800EDD6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1800"/>
            <a:ext cx="9144000" cy="482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1093525" y="67975"/>
            <a:ext cx="728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up with the super high latency of Q21??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 title="013E9E52-0E60-471E-B11E-44C22524172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" y="729700"/>
            <a:ext cx="9143925" cy="44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5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Left Semi Join operator with inequality is the issue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 title="27385BE1-178F-4D17-9AE2-C7A12A06E86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8975"/>
            <a:ext cx="4728350" cy="411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 title="65975CF8-A163-4269-BA9E-97E23E142ADC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350" y="978975"/>
            <a:ext cx="4415650" cy="261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 title="CB2C5FFA-07C6-4E63-A9B4-37AC684DA895_4_5005_c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8350" y="3596425"/>
            <a:ext cx="4415650" cy="1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2215275" y="139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TPC-DS Results 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187050" y="1095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TPC-DS is a much larger </a:t>
            </a:r>
            <a:r>
              <a:rPr lang="en"/>
              <a:t>benchmark</a:t>
            </a:r>
            <a:r>
              <a:rPr lang="en"/>
              <a:t> and it consists of 99 Queries in total, which is 4.5 times more than the queries in the TPC-H.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Nearly 40 queries fall back to JVM out of the total of 99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common Fallback reasons are: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(1) </a:t>
            </a:r>
            <a:r>
              <a:rPr lang="en"/>
              <a:t>Unsupported Join types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(2) Unsupported Aggregation Modes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(3) Unsupported Window Functions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2815825" y="354400"/>
            <a:ext cx="480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57025" y="1209125"/>
            <a:ext cx="77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overhead bottlenecks in TPC-DS w.r.t Joins, Aggregates and Window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 concrete optimization targets for both the TPC-H &amp; TPC-DS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performance improvements and feature extensions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Finally benchmark the before vs after performance of operator performance w.r.t time taken and the native coverage.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2351250" y="195750"/>
            <a:ext cx="584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Quiz Question</a:t>
            </a:r>
            <a:endParaRPr sz="2820"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Why/How does DataFusion Comet accelerate Spark SQL?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(A): </a:t>
            </a:r>
            <a:r>
              <a:rPr lang="en"/>
              <a:t>By executing query operators natively in JVM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(B): By executing query operators natively in Rust outside the JVM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(C): By rewriting all SQL queries as stored procedures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(D): By caching all the data in JVM heap memory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(E) By compressing data before sending it to the JVM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1478775" y="241050"/>
            <a:ext cx="587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Image &amp; Content References</a:t>
            </a:r>
            <a:endParaRPr sz="282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slide-3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https://www.oracle.com/database/what-is-database/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https://www.geeksforgeeks.org/sql/what-is-sql/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>
                <a:solidFill>
                  <a:schemeClr val="hlink"/>
                </a:solidFill>
                <a:hlinkClick r:id="rId5"/>
              </a:rPr>
              <a:t>https://aws.amazon.com/what-is/sql/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slide-4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https://datamozart.substack.com/p/parquet-file-format-everything-you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slide-5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>
                <a:solidFill>
                  <a:schemeClr val="hlink"/>
                </a:solidFill>
                <a:hlinkClick r:id="rId7"/>
              </a:rPr>
              <a:t>https://aws.amazon.com/what-is/apache-spark/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slide-6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>
                <a:solidFill>
                  <a:schemeClr val="hlink"/>
                </a:solidFill>
                <a:hlinkClick r:id="rId8"/>
              </a:rPr>
              <a:t>https://www.edureka.co/blog/java-bytecode/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slide-7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>
                <a:solidFill>
                  <a:schemeClr val="hlink"/>
                </a:solidFill>
                <a:hlinkClick r:id="rId9"/>
              </a:rPr>
              <a:t>https://datafusion.apache.org/comet/</a:t>
            </a:r>
            <a:endParaRPr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